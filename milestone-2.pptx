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67" r:id="rId2"/>
    <p:sldId id="268" r:id="rId3"/>
    <p:sldId id="269" r:id="rId4"/>
    <p:sldId id="280" r:id="rId5"/>
    <p:sldId id="270" r:id="rId6"/>
    <p:sldId id="283" r:id="rId7"/>
    <p:sldId id="281" r:id="rId8"/>
    <p:sldId id="282" r:id="rId9"/>
    <p:sldId id="266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jI5GDjOA4s8nAsp0W8MAdIDlup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F8FA474-12F4-1C96-64BD-E7D928386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B0E0EA14-E08C-B2C6-30BC-AB911ED151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3CA4DC75-B69F-EFCC-184B-C682FADDA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C3E8E4BE-3A2E-14E1-47EF-28FE1F61FD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2488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AD5F6ED2-9941-31F5-DA2F-CA328AABC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>
            <a:extLst>
              <a:ext uri="{FF2B5EF4-FFF2-40B4-BE49-F238E27FC236}">
                <a16:creationId xmlns:a16="http://schemas.microsoft.com/office/drawing/2014/main" id="{3747509F-C159-75A6-D4C5-522056D001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6:notes">
            <a:extLst>
              <a:ext uri="{FF2B5EF4-FFF2-40B4-BE49-F238E27FC236}">
                <a16:creationId xmlns:a16="http://schemas.microsoft.com/office/drawing/2014/main" id="{EF285EEC-4929-DE1B-D053-3364423080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74958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FA65C849-1D04-98D3-CD24-061B5729D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>
            <a:extLst>
              <a:ext uri="{FF2B5EF4-FFF2-40B4-BE49-F238E27FC236}">
                <a16:creationId xmlns:a16="http://schemas.microsoft.com/office/drawing/2014/main" id="{8EF763EE-38C7-9D78-8ED5-F4433DD809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6:notes">
            <a:extLst>
              <a:ext uri="{FF2B5EF4-FFF2-40B4-BE49-F238E27FC236}">
                <a16:creationId xmlns:a16="http://schemas.microsoft.com/office/drawing/2014/main" id="{E3DB6AB5-B698-7AE4-A47B-3A8A2CEDE3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2863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7AF2ADF2-533E-EF78-A448-28A703860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>
            <a:extLst>
              <a:ext uri="{FF2B5EF4-FFF2-40B4-BE49-F238E27FC236}">
                <a16:creationId xmlns:a16="http://schemas.microsoft.com/office/drawing/2014/main" id="{9B45EBCC-BAB7-894A-58CF-83A9FD6FC2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6:notes">
            <a:extLst>
              <a:ext uri="{FF2B5EF4-FFF2-40B4-BE49-F238E27FC236}">
                <a16:creationId xmlns:a16="http://schemas.microsoft.com/office/drawing/2014/main" id="{50C76299-8EE5-BB09-FF54-E53FF531E6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23763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785cdd0013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g3785cdd001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5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" name="Google Shape;32;p1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4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1725262" y="2724324"/>
            <a:ext cx="7924800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0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Milstone</a:t>
            </a:r>
            <a:r>
              <a:rPr lang="en-US" sz="30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-2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Machine Learning Dataset Preparation &amp; AI Recommendation Model</a:t>
            </a:r>
            <a:endParaRPr sz="2400" b="0" i="0" u="none" strike="noStrike" cap="none" dirty="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577130" y="4133676"/>
            <a:ext cx="9848675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 </a:t>
            </a:r>
            <a:r>
              <a:rPr lang="en-US" sz="2400" b="0" i="0" u="none" strike="noStrike" cap="none" dirty="0" err="1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EcoPackAI</a:t>
            </a:r>
            <a:r>
              <a:rPr lang="en-US" sz="24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 – AI-Powered Sustainable Packaging 		</a:t>
            </a:r>
            <a:r>
              <a:rPr lang="en-US" sz="24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	      </a:t>
            </a:r>
            <a:r>
              <a:rPr lang="en-US" sz="24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Recommendation System</a:t>
            </a:r>
            <a:endParaRPr sz="2400" b="0" i="0" u="none" strike="noStrike" cap="none" dirty="0">
              <a:solidFill>
                <a:schemeClr val="tx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0A9F4E-0688-4A14-1047-66DFD9092FDD}"/>
              </a:ext>
            </a:extLst>
          </p:cNvPr>
          <p:cNvSpPr txBox="1"/>
          <p:nvPr/>
        </p:nvSpPr>
        <p:spPr>
          <a:xfrm>
            <a:off x="1992311" y="1511797"/>
            <a:ext cx="73907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rebuchet MS" panose="020B0603020202020204" pitchFamily="34" charset="0"/>
              </a:rPr>
              <a:t>INFOSYS SPRINGBOARD INTERNSHIP</a:t>
            </a:r>
            <a:endParaRPr lang="en-IN" sz="28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accent1"/>
              </a:solidFill>
              <a:highlight>
                <a:srgbClr val="FF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600200" y="17526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215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>
              <a:buClr>
                <a:srgbClr val="0033CC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Selection &amp; Target Variable Generation</a:t>
            </a:r>
            <a:endParaRPr lang="en-US" dirty="0"/>
          </a:p>
          <a:p>
            <a:pPr marL="685791" indent="-342900" algn="just">
              <a:buClr>
                <a:srgbClr val="0033CC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Train-Test Split</a:t>
            </a:r>
            <a:endParaRPr lang="en-US" dirty="0"/>
          </a:p>
          <a:p>
            <a:pPr marL="685791" indent="-342900" algn="just">
              <a:buClr>
                <a:srgbClr val="0033CC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Data Pipeline &amp; Preprocessing</a:t>
            </a:r>
          </a:p>
          <a:p>
            <a:pPr marL="685791" indent="-342900" algn="just">
              <a:buClr>
                <a:srgbClr val="0033CC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Cost Prediction Model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791" indent="-342900" algn="just">
              <a:buClr>
                <a:srgbClr val="0033CC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CO₂ Prediction Model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791" indent="-342900" algn="just">
              <a:buClr>
                <a:srgbClr val="0033CC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Scoring Formula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Char char="▪"/>
            </a:pPr>
            <a:endParaRPr lang="en-US" sz="2400" b="0" i="0" u="none" strike="noStrike" cap="none" dirty="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IN" sz="2400" b="0" i="0" u="none" strike="noStrike" cap="none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4109720" y="957561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 sz="2400" b="0" i="0" u="none" strike="noStrike" cap="non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788565" y="1679852"/>
            <a:ext cx="11115413" cy="4097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Trebuchet MS" panose="020B0603020202020204" pitchFamily="34" charset="0"/>
              </a:rPr>
              <a:t>Selected the following features: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Trebuchet MS" panose="020B0603020202020204" pitchFamily="34" charset="0"/>
              </a:rPr>
              <a:t>Material_Type</a:t>
            </a:r>
            <a:r>
              <a:rPr lang="en-US" sz="2200" dirty="0">
                <a:latin typeface="Trebuchet MS" panose="020B0603020202020204" pitchFamily="34" charset="0"/>
              </a:rPr>
              <a:t> (Categorical)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Trebuchet MS" panose="020B0603020202020204" pitchFamily="34" charset="0"/>
              </a:rPr>
              <a:t>Strength_PSI</a:t>
            </a:r>
            <a:endParaRPr lang="en-US" sz="2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Trebuchet MS" panose="020B0603020202020204" pitchFamily="34" charset="0"/>
              </a:rPr>
              <a:t>Weight_Capacity_KG</a:t>
            </a:r>
            <a:endParaRPr lang="en-US" sz="2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Biodegradability_%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Recyclability_%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rebuchet MS" panose="020B0603020202020204" pitchFamily="34" charset="0"/>
              </a:rPr>
              <a:t>These features influence: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Cost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Environmental Impact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Performance</a:t>
            </a:r>
          </a:p>
          <a:p>
            <a:pPr>
              <a:lnSpc>
                <a:spcPct val="150000"/>
              </a:lnSpc>
            </a:pPr>
            <a:endParaRPr lang="en-IN" sz="2200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Trebuchet MS" panose="020B0603020202020204" pitchFamily="34" charset="0"/>
              </a:rPr>
              <a:t>Created two ML prediction tasks: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1️⃣ Cost Prediction</a:t>
            </a:r>
            <a:br>
              <a:rPr lang="en-US" sz="2200" dirty="0">
                <a:latin typeface="Trebuchet MS" panose="020B0603020202020204" pitchFamily="34" charset="0"/>
              </a:rPr>
            </a:br>
            <a:r>
              <a:rPr lang="en-US" sz="2200" dirty="0">
                <a:latin typeface="Trebuchet MS" panose="020B0603020202020204" pitchFamily="34" charset="0"/>
              </a:rPr>
              <a:t>Target → </a:t>
            </a:r>
            <a:r>
              <a:rPr lang="en-US" sz="2200" dirty="0" err="1">
                <a:latin typeface="Trebuchet MS" panose="020B0603020202020204" pitchFamily="34" charset="0"/>
              </a:rPr>
              <a:t>Cost_per_KG_USD</a:t>
            </a:r>
            <a:endParaRPr lang="en-US" sz="2200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2️⃣ CO₂ Impact Prediction</a:t>
            </a:r>
            <a:br>
              <a:rPr lang="en-US" sz="2200" dirty="0">
                <a:latin typeface="Trebuchet MS" panose="020B0603020202020204" pitchFamily="34" charset="0"/>
              </a:rPr>
            </a:br>
            <a:r>
              <a:rPr lang="en-US" sz="2200" dirty="0">
                <a:latin typeface="Trebuchet MS" panose="020B0603020202020204" pitchFamily="34" charset="0"/>
              </a:rPr>
              <a:t>Target → CO2_Emission_Score_%</a:t>
            </a:r>
          </a:p>
          <a:p>
            <a:pPr>
              <a:lnSpc>
                <a:spcPct val="150000"/>
              </a:lnSpc>
            </a:pPr>
            <a:endParaRPr lang="en-IN" sz="2200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200" dirty="0">
              <a:latin typeface="Trebuchet MS" panose="020B0603020202020204" pitchFamily="34" charset="0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3120705" y="1143002"/>
            <a:ext cx="754729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Selection &amp; Target Variable Generation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7A11F310-4965-BDF5-BE31-B0D53E9A0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58AE2B63-196E-12A8-B8CE-181E45DFB587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837F0F4C-E9A3-FDF0-FFC4-41CD5FB54224}"/>
              </a:ext>
            </a:extLst>
          </p:cNvPr>
          <p:cNvSpPr txBox="1"/>
          <p:nvPr/>
        </p:nvSpPr>
        <p:spPr>
          <a:xfrm>
            <a:off x="1057013" y="1772131"/>
            <a:ext cx="9706062" cy="4113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rebuchet MS" panose="020B0603020202020204" pitchFamily="34" charset="0"/>
              </a:rPr>
              <a:t>Data Splitting Strategy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rebuchet MS" panose="020B0603020202020204" pitchFamily="34" charset="0"/>
              </a:rPr>
              <a:t>80% → Training Data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rebuchet MS" panose="020B0603020202020204" pitchFamily="34" charset="0"/>
              </a:rPr>
              <a:t>20% → Testing Data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rebuchet MS" panose="020B0603020202020204" pitchFamily="34" charset="0"/>
              </a:rPr>
              <a:t>Random State = 42 (Reproducibility)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rebuchet MS" panose="020B0603020202020204" pitchFamily="34" charset="0"/>
              </a:rPr>
              <a:t>Purpose: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rebuchet MS" panose="020B0603020202020204" pitchFamily="34" charset="0"/>
              </a:rPr>
              <a:t>Train model on unseen data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rebuchet MS" panose="020B0603020202020204" pitchFamily="34" charset="0"/>
              </a:rPr>
              <a:t>Evaluate generalization performance</a:t>
            </a:r>
          </a:p>
        </p:txBody>
      </p:sp>
      <p:sp>
        <p:nvSpPr>
          <p:cNvPr id="113" name="Google Shape;113;p3">
            <a:extLst>
              <a:ext uri="{FF2B5EF4-FFF2-40B4-BE49-F238E27FC236}">
                <a16:creationId xmlns:a16="http://schemas.microsoft.com/office/drawing/2014/main" id="{8CEE9A8D-8365-701D-D10F-EF6FD6729D1C}"/>
              </a:ext>
            </a:extLst>
          </p:cNvPr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Train-Test Split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>
            <a:extLst>
              <a:ext uri="{FF2B5EF4-FFF2-40B4-BE49-F238E27FC236}">
                <a16:creationId xmlns:a16="http://schemas.microsoft.com/office/drawing/2014/main" id="{FE596773-2FBD-5B42-2543-DE79EDA647A7}"/>
              </a:ext>
            </a:extLst>
          </p:cNvPr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ACB7E-0C35-3F8C-F4A0-70F49FE3A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850" y="2466166"/>
            <a:ext cx="5022225" cy="214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263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571850" y="1546192"/>
            <a:ext cx="8077200" cy="4211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2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22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sed:</a:t>
            </a:r>
          </a:p>
          <a:p>
            <a:pPr marL="685791" marR="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200" b="1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Preprocessor:</a:t>
            </a:r>
          </a:p>
          <a:p>
            <a:pPr marL="685791" marR="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2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	</a:t>
            </a:r>
            <a:r>
              <a:rPr lang="en-US" sz="22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Encoding (</a:t>
            </a:r>
            <a:r>
              <a:rPr lang="en-US" sz="2200" b="0" i="0" u="none" strike="noStrike" cap="none" dirty="0" err="1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Material_Type</a:t>
            </a:r>
            <a:r>
              <a:rPr lang="en-US" sz="22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</a:p>
          <a:p>
            <a:pPr marL="685791" marR="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2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	</a:t>
            </a:r>
            <a:r>
              <a:rPr lang="en-US" sz="22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Scaling (Numerical Features)</a:t>
            </a:r>
          </a:p>
          <a:p>
            <a:pPr marL="685791" marR="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2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Integrated using Pipeline</a:t>
            </a:r>
          </a:p>
          <a:p>
            <a:pPr marL="685791" marR="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2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Why Pipeline?</a:t>
            </a:r>
          </a:p>
          <a:p>
            <a:pPr marL="685791" marR="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2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Prevents data leakage</a:t>
            </a:r>
          </a:p>
          <a:p>
            <a:pPr marL="685791" marR="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2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Ensures consistent preprocessing</a:t>
            </a:r>
          </a:p>
          <a:p>
            <a:pPr marL="685791" marR="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2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Cleaner and scalable architecture</a:t>
            </a:r>
          </a:p>
        </p:txBody>
      </p:sp>
      <p:sp>
        <p:nvSpPr>
          <p:cNvPr id="124" name="Google Shape;124;p4"/>
          <p:cNvSpPr txBox="1"/>
          <p:nvPr/>
        </p:nvSpPr>
        <p:spPr>
          <a:xfrm>
            <a:off x="2895600" y="982211"/>
            <a:ext cx="7848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Data Pipeline &amp; Preprocessing</a:t>
            </a:r>
            <a:endParaRPr sz="2400" b="0" i="0" u="none" strike="noStrike" cap="none" dirty="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8C82F2-6352-8C44-CD2A-E1CD20CB6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561" y="1617668"/>
            <a:ext cx="4456835" cy="22886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18991F-B2EB-1E55-6F56-8AADA511C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705" y="4200605"/>
            <a:ext cx="6366275" cy="15626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9BF815E5-D71F-AFC0-32CE-C627E0EB2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>
            <a:extLst>
              <a:ext uri="{FF2B5EF4-FFF2-40B4-BE49-F238E27FC236}">
                <a16:creationId xmlns:a16="http://schemas.microsoft.com/office/drawing/2014/main" id="{7671CCB3-936E-6DF2-6D4E-FF72937977C8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>
            <a:extLst>
              <a:ext uri="{FF2B5EF4-FFF2-40B4-BE49-F238E27FC236}">
                <a16:creationId xmlns:a16="http://schemas.microsoft.com/office/drawing/2014/main" id="{CFC6A653-BDD2-F7B4-98AF-9C125335D5B0}"/>
              </a:ext>
            </a:extLst>
          </p:cNvPr>
          <p:cNvSpPr txBox="1"/>
          <p:nvPr/>
        </p:nvSpPr>
        <p:spPr>
          <a:xfrm>
            <a:off x="2895600" y="1053957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Cost Prediction Model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0B30E-B180-BC44-0687-E40EE9F95D8A}"/>
              </a:ext>
            </a:extLst>
          </p:cNvPr>
          <p:cNvSpPr txBox="1"/>
          <p:nvPr/>
        </p:nvSpPr>
        <p:spPr>
          <a:xfrm>
            <a:off x="822122" y="1683201"/>
            <a:ext cx="10788242" cy="415498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200" dirty="0">
                <a:latin typeface="Trebuchet MS" panose="020B0603020202020204" pitchFamily="34" charset="0"/>
              </a:rPr>
              <a:t>Model </a:t>
            </a:r>
            <a:r>
              <a:rPr lang="en-IN" sz="2200" dirty="0" err="1">
                <a:latin typeface="Trebuchet MS" panose="020B0603020202020204" pitchFamily="34" charset="0"/>
              </a:rPr>
              <a:t>Used:</a:t>
            </a:r>
            <a:r>
              <a:rPr lang="en-IN" sz="2200" b="1" dirty="0" err="1">
                <a:latin typeface="Trebuchet MS" panose="020B0603020202020204" pitchFamily="34" charset="0"/>
              </a:rPr>
              <a:t>RandomForestRegressor</a:t>
            </a:r>
            <a:endParaRPr lang="en-IN" sz="2200" b="1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200" b="1" dirty="0">
                <a:latin typeface="Trebuchet MS" panose="020B0603020202020204" pitchFamily="34" charset="0"/>
              </a:rPr>
              <a:t>Parameters: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err="1">
                <a:latin typeface="Trebuchet MS" panose="020B0603020202020204" pitchFamily="34" charset="0"/>
              </a:rPr>
              <a:t>n_estimators</a:t>
            </a:r>
            <a:r>
              <a:rPr lang="en-IN" sz="2200" dirty="0">
                <a:latin typeface="Trebuchet MS" panose="020B0603020202020204" pitchFamily="34" charset="0"/>
              </a:rPr>
              <a:t> = 200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err="1">
                <a:latin typeface="Trebuchet MS" panose="020B0603020202020204" pitchFamily="34" charset="0"/>
              </a:rPr>
              <a:t>max_depth</a:t>
            </a:r>
            <a:r>
              <a:rPr lang="en-IN" sz="2200" dirty="0">
                <a:latin typeface="Trebuchet MS" panose="020B0603020202020204" pitchFamily="34" charset="0"/>
              </a:rPr>
              <a:t> = 10</a:t>
            </a:r>
          </a:p>
          <a:p>
            <a:pPr>
              <a:lnSpc>
                <a:spcPct val="150000"/>
              </a:lnSpc>
              <a:buNone/>
            </a:pPr>
            <a:r>
              <a:rPr lang="en-IN" sz="2200" dirty="0">
                <a:latin typeface="Trebuchet MS" panose="020B0603020202020204" pitchFamily="34" charset="0"/>
              </a:rPr>
              <a:t>Why Random Forest?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Handles non-linear relationships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Robust to overfitting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Works well on mixed features</a:t>
            </a:r>
          </a:p>
          <a:p>
            <a:pPr>
              <a:lnSpc>
                <a:spcPct val="150000"/>
              </a:lnSpc>
              <a:buNone/>
            </a:pPr>
            <a:r>
              <a:rPr lang="en-IN" sz="2200" dirty="0">
                <a:latin typeface="Trebuchet MS" panose="020B0603020202020204" pitchFamily="34" charset="0"/>
              </a:rPr>
              <a:t>Evaluation Metrics: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2C81BE-9F20-E32F-6465-2FCE1388D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405" y="2452687"/>
            <a:ext cx="4048690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243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E1FFA483-4C8B-577C-998B-A66F2CC20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>
            <a:extLst>
              <a:ext uri="{FF2B5EF4-FFF2-40B4-BE49-F238E27FC236}">
                <a16:creationId xmlns:a16="http://schemas.microsoft.com/office/drawing/2014/main" id="{83E789EE-47AD-474B-D92C-45D58F88C52C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>
            <a:extLst>
              <a:ext uri="{FF2B5EF4-FFF2-40B4-BE49-F238E27FC236}">
                <a16:creationId xmlns:a16="http://schemas.microsoft.com/office/drawing/2014/main" id="{63ABBFBF-3A7D-97EE-44EF-090E675481B9}"/>
              </a:ext>
            </a:extLst>
          </p:cNvPr>
          <p:cNvSpPr txBox="1"/>
          <p:nvPr/>
        </p:nvSpPr>
        <p:spPr>
          <a:xfrm>
            <a:off x="2895600" y="1053957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CO₂ Prediction Model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>
            <a:extLst>
              <a:ext uri="{FF2B5EF4-FFF2-40B4-BE49-F238E27FC236}">
                <a16:creationId xmlns:a16="http://schemas.microsoft.com/office/drawing/2014/main" id="{4ECFCB8F-EF77-C259-D793-FAEE6735416C}"/>
              </a:ext>
            </a:extLst>
          </p:cNvPr>
          <p:cNvSpPr txBox="1"/>
          <p:nvPr/>
        </p:nvSpPr>
        <p:spPr>
          <a:xfrm>
            <a:off x="763397" y="1646687"/>
            <a:ext cx="11341915" cy="466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Trebuchet MS" panose="020B0603020202020204" pitchFamily="34" charset="0"/>
              </a:rPr>
              <a:t>Model </a:t>
            </a:r>
            <a:r>
              <a:rPr lang="en-IN" sz="2200" dirty="0" err="1">
                <a:latin typeface="Trebuchet MS" panose="020B0603020202020204" pitchFamily="34" charset="0"/>
              </a:rPr>
              <a:t>Used:</a:t>
            </a:r>
            <a:r>
              <a:rPr lang="en-IN" sz="2200" b="1" dirty="0" err="1">
                <a:latin typeface="Trebuchet MS" panose="020B0603020202020204" pitchFamily="34" charset="0"/>
              </a:rPr>
              <a:t>XGBRegressor</a:t>
            </a:r>
            <a:endParaRPr lang="en-IN" sz="2200" b="1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rebuchet MS" panose="020B0603020202020204" pitchFamily="34" charset="0"/>
              </a:rPr>
              <a:t>Parameters: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err="1">
                <a:latin typeface="Trebuchet MS" panose="020B0603020202020204" pitchFamily="34" charset="0"/>
              </a:rPr>
              <a:t>n_estimators</a:t>
            </a:r>
            <a:r>
              <a:rPr lang="en-IN" sz="2200" dirty="0">
                <a:latin typeface="Trebuchet MS" panose="020B0603020202020204" pitchFamily="34" charset="0"/>
              </a:rPr>
              <a:t> = 200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err="1">
                <a:latin typeface="Trebuchet MS" panose="020B0603020202020204" pitchFamily="34" charset="0"/>
              </a:rPr>
              <a:t>learning_rate</a:t>
            </a:r>
            <a:r>
              <a:rPr lang="en-IN" sz="2200" dirty="0">
                <a:latin typeface="Trebuchet MS" panose="020B0603020202020204" pitchFamily="34" charset="0"/>
              </a:rPr>
              <a:t> = 0.1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err="1">
                <a:latin typeface="Trebuchet MS" panose="020B0603020202020204" pitchFamily="34" charset="0"/>
              </a:rPr>
              <a:t>max_depth</a:t>
            </a:r>
            <a:r>
              <a:rPr lang="en-IN" sz="2200" dirty="0">
                <a:latin typeface="Trebuchet MS" panose="020B0603020202020204" pitchFamily="34" charset="0"/>
              </a:rPr>
              <a:t> = 6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rebuchet MS" panose="020B0603020202020204" pitchFamily="34" charset="0"/>
              </a:rPr>
              <a:t>Why </a:t>
            </a:r>
            <a:r>
              <a:rPr lang="en-IN" sz="2200" dirty="0" err="1">
                <a:latin typeface="Trebuchet MS" panose="020B0603020202020204" pitchFamily="34" charset="0"/>
              </a:rPr>
              <a:t>XGBoost</a:t>
            </a:r>
            <a:r>
              <a:rPr lang="en-IN" sz="2200" dirty="0">
                <a:latin typeface="Trebuchet MS" panose="020B0603020202020204" pitchFamily="34" charset="0"/>
              </a:rPr>
              <a:t>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High performance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Gradient boosting optimization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Handles complex environmental patterns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rebuchet MS" panose="020B0603020202020204" pitchFamily="34" charset="0"/>
              </a:rPr>
              <a:t>Evaluation Metrics: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IN" sz="2200" b="1" dirty="0">
              <a:solidFill>
                <a:schemeClr val="tx1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4E8BC9-C167-94AB-503E-2AC4A1D32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244" y="2708907"/>
            <a:ext cx="3581900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63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6027F8E4-4C21-2686-CC8B-7C1C077EC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>
            <a:extLst>
              <a:ext uri="{FF2B5EF4-FFF2-40B4-BE49-F238E27FC236}">
                <a16:creationId xmlns:a16="http://schemas.microsoft.com/office/drawing/2014/main" id="{BE580AA4-9B73-79CE-3CFE-89C69E38EAAE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>
            <a:extLst>
              <a:ext uri="{FF2B5EF4-FFF2-40B4-BE49-F238E27FC236}">
                <a16:creationId xmlns:a16="http://schemas.microsoft.com/office/drawing/2014/main" id="{A471035F-3712-22F3-FABF-12B7A953FAEE}"/>
              </a:ext>
            </a:extLst>
          </p:cNvPr>
          <p:cNvSpPr txBox="1"/>
          <p:nvPr/>
        </p:nvSpPr>
        <p:spPr>
          <a:xfrm>
            <a:off x="2895600" y="1053957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Scoring Formula</a:t>
            </a:r>
            <a:endParaRPr lang="en-US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3D1569-3450-F863-E0ED-F133693BC180}"/>
              </a:ext>
            </a:extLst>
          </p:cNvPr>
          <p:cNvSpPr txBox="1"/>
          <p:nvPr/>
        </p:nvSpPr>
        <p:spPr>
          <a:xfrm>
            <a:off x="682306" y="1617668"/>
            <a:ext cx="10089858" cy="4600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rebuchet MS" panose="020B0603020202020204" pitchFamily="34" charset="0"/>
              </a:rPr>
              <a:t>Final Recommendation Formula: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rebuchet MS" panose="020B0603020202020204" pitchFamily="34" charset="0"/>
              </a:rPr>
              <a:t>Cost Score: 1 − Normalized(</a:t>
            </a:r>
            <a:r>
              <a:rPr lang="en-US" sz="2200" dirty="0" err="1">
                <a:latin typeface="Trebuchet MS" panose="020B0603020202020204" pitchFamily="34" charset="0"/>
              </a:rPr>
              <a:t>Predicted_Cost</a:t>
            </a:r>
            <a:r>
              <a:rPr lang="en-US" sz="2200" dirty="0">
                <a:latin typeface="Trebuchet MS" panose="020B0603020202020204" pitchFamily="34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rebuchet MS" panose="020B0603020202020204" pitchFamily="34" charset="0"/>
              </a:rPr>
              <a:t>CO₂ Score:1 − Normalized(Predicted_CO2)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rebuchet MS" panose="020B0603020202020204" pitchFamily="34" charset="0"/>
              </a:rPr>
              <a:t>Final AI Score: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 err="1">
                <a:latin typeface="Trebuchet MS" panose="020B0603020202020204" pitchFamily="34" charset="0"/>
              </a:rPr>
              <a:t>AI_Recommendation_Score</a:t>
            </a:r>
            <a:r>
              <a:rPr lang="en-US" sz="2200" dirty="0">
                <a:latin typeface="Trebuchet MS" panose="020B0603020202020204" pitchFamily="34" charset="0"/>
              </a:rPr>
              <a:t> =</a:t>
            </a:r>
            <a:br>
              <a:rPr lang="en-US" sz="2200" dirty="0">
                <a:latin typeface="Trebuchet MS" panose="020B0603020202020204" pitchFamily="34" charset="0"/>
              </a:rPr>
            </a:br>
            <a:r>
              <a:rPr lang="en-US" sz="2200" dirty="0">
                <a:latin typeface="Trebuchet MS" panose="020B0603020202020204" pitchFamily="34" charset="0"/>
              </a:rPr>
              <a:t>(0.5 × </a:t>
            </a:r>
            <a:r>
              <a:rPr lang="en-US" sz="2200" dirty="0" err="1">
                <a:latin typeface="Trebuchet MS" panose="020B0603020202020204" pitchFamily="34" charset="0"/>
              </a:rPr>
              <a:t>Cost_Score</a:t>
            </a:r>
            <a:r>
              <a:rPr lang="en-US" sz="2200" dirty="0">
                <a:latin typeface="Trebuchet MS" panose="020B0603020202020204" pitchFamily="34" charset="0"/>
              </a:rPr>
              <a:t>) + (0.5 × CO2_Score)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rebuchet MS" panose="020B0603020202020204" pitchFamily="34" charset="0"/>
              </a:rPr>
              <a:t>Equal weight given to: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Economic factor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Environmental factor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4E0998-97AC-8A0D-DDCF-B5B4EFE26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520" y="3305348"/>
            <a:ext cx="5694316" cy="229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60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85cdd0013_0_83"/>
          <p:cNvSpPr/>
          <p:nvPr/>
        </p:nvSpPr>
        <p:spPr>
          <a:xfrm>
            <a:off x="4842760" y="2812475"/>
            <a:ext cx="2506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339</Words>
  <Application>Microsoft Office PowerPoint</Application>
  <PresentationFormat>Widescreen</PresentationFormat>
  <Paragraphs>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Noto Sans Symbols</vt:lpstr>
      <vt:lpstr>Trebuchet MS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account</dc:creator>
  <cp:lastModifiedBy>AJAY SAWALE</cp:lastModifiedBy>
  <cp:revision>11</cp:revision>
  <dcterms:created xsi:type="dcterms:W3CDTF">2023-02-02T07:40:50Z</dcterms:created>
  <dcterms:modified xsi:type="dcterms:W3CDTF">2026-02-27T07:10:32Z</dcterms:modified>
</cp:coreProperties>
</file>