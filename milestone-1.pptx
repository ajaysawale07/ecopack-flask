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68" r:id="rId3"/>
    <p:sldId id="269" r:id="rId4"/>
    <p:sldId id="280" r:id="rId5"/>
    <p:sldId id="270" r:id="rId6"/>
    <p:sldId id="272" r:id="rId7"/>
    <p:sldId id="281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I5GDjOA4s8nAsp0W8MAdIDlup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8FA474-12F4-1C96-64BD-E7D92838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0E0EA14-E08C-B2C6-30BC-AB911ED15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CA4DC75-B69F-EFCC-184B-C682FADDA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C3E8E4BE-3A2E-14E1-47EF-28FE1F61F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488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FA65C849-1D04-98D3-CD24-061B5729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8EF763EE-38C7-9D78-8ED5-F4433DD80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E3DB6AB5-B698-7AE4-A47B-3A8A2CEDE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2863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1725262" y="2724324"/>
            <a:ext cx="79248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Milstone</a:t>
            </a:r>
            <a:r>
              <a:rPr lang="en-US" sz="30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-1</a:t>
            </a:r>
            <a:endParaRPr sz="30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77130" y="4133676"/>
            <a:ext cx="9848675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r>
              <a:rPr lang="en-US" sz="2400" b="0" i="0" u="none" strike="noStrike" cap="none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EcoPackAI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– AI-Powered Sustainable Packaging 		</a:t>
            </a:r>
            <a:r>
              <a:rPr lang="en-US" sz="24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 System</a:t>
            </a:r>
            <a:endParaRPr sz="2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0A9F4E-0688-4A14-1047-66DFD9092FDD}"/>
              </a:ext>
            </a:extLst>
          </p:cNvPr>
          <p:cNvSpPr txBox="1"/>
          <p:nvPr/>
        </p:nvSpPr>
        <p:spPr>
          <a:xfrm>
            <a:off x="1992311" y="1511797"/>
            <a:ext cx="739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rebuchet MS" panose="020B0603020202020204" pitchFamily="34" charset="0"/>
              </a:rPr>
              <a:t>INFOSYS SPRINGBOARD INTERNSHIP</a:t>
            </a:r>
            <a:endParaRPr lang="en-IN" sz="2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accent1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00200" y="17526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</a:t>
            </a:r>
            <a:endParaRPr lang="en-US"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Integration</a:t>
            </a: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</a:t>
            </a:r>
            <a:endParaRPr lang="en-US" dirty="0">
              <a:ea typeface="Trebuchet MS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 </a:t>
            </a: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09720" y="957561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057399" y="1881188"/>
            <a:ext cx="8537897" cy="418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rebuchet MS" panose="020B0603020202020204" pitchFamily="34" charset="0"/>
              </a:rPr>
              <a:t>Dataset Contains:(material)   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Material_Type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Strength_PSI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Weight_Capacity_KG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Biodegradability_%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CO2_Emission_Score_%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Recyclability_%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Cost_per_KG_USD</a:t>
            </a:r>
            <a:endParaRPr lang="en-IN" sz="20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rebuchet MS" panose="020B0603020202020204" pitchFamily="34" charset="0"/>
              </a:rPr>
              <a:t>Dataset Contains:(products)   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Product Name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Category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Product_Weight_kg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solidFill>
                  <a:schemeClr val="tx1"/>
                </a:solidFill>
                <a:latin typeface="Trebuchet MS" panose="020B0603020202020204" pitchFamily="34" charset="0"/>
              </a:rPr>
              <a:t>Fragility_Level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7A11F310-4965-BDF5-BE31-B0D53E9A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8AE2B63-196E-12A8-B8CE-181E45DFB587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837F0F4C-E9A3-FDF0-FFC4-41CD5FB54224}"/>
              </a:ext>
            </a:extLst>
          </p:cNvPr>
          <p:cNvSpPr txBox="1"/>
          <p:nvPr/>
        </p:nvSpPr>
        <p:spPr>
          <a:xfrm>
            <a:off x="5167618" y="1881188"/>
            <a:ext cx="5427678" cy="418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>
              <a:lnSpc>
                <a:spcPct val="150000"/>
              </a:lnSpc>
            </a:pP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8CEE9A8D-8365-701D-D10F-EF6FD6729D1C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Integration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">
            <a:extLst>
              <a:ext uri="{FF2B5EF4-FFF2-40B4-BE49-F238E27FC236}">
                <a16:creationId xmlns:a16="http://schemas.microsoft.com/office/drawing/2014/main" id="{A764C147-ADF7-15BE-F08A-FC0F36860E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FE596773-2FBD-5B42-2543-DE79EDA647A7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DDBF8272-1E23-69B6-37F8-2CC11658F7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88EA2A-68F6-2EF4-D713-CC46ECCA0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910" y="1780003"/>
            <a:ext cx="3670315" cy="413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56C90F-EF91-EF37-1770-DB0448818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521" y="2178026"/>
            <a:ext cx="6731306" cy="1381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4DA6B-CEE7-66A1-0C70-7065C9EA9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572" y="4044671"/>
            <a:ext cx="5077055" cy="153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6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2401" y="1881043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IN" sz="2000" b="1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Missing Value Handling</a:t>
            </a:r>
            <a:endParaRPr lang="en-IN" sz="20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Instead of global mean imputation: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We applied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group-wise mean 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imputation: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Missing values filled based on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Material_Type</a:t>
            </a:r>
            <a:endParaRPr lang="en-US" sz="20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Kraft Paper → mean of Kraft Paper only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Molded Pulp → mean of Molded Pulp only</a:t>
            </a:r>
            <a:endParaRPr sz="20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</a:t>
            </a:r>
            <a:endParaRPr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BBD54F-9082-BA5D-F244-892C73690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751" y="4575387"/>
            <a:ext cx="6662249" cy="14029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741028" y="1741275"/>
            <a:ext cx="10651222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CO2 Impact Index:</a:t>
            </a:r>
          </a:p>
          <a:p>
            <a:r>
              <a:rPr lang="en-US" sz="2000" b="1" dirty="0">
                <a:latin typeface="Trebuchet MS" panose="020B0603020202020204" pitchFamily="34" charset="0"/>
              </a:rPr>
              <a:t>Logic Used: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Lower CO2 emission → Better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Higher recyclability → Better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Applied Min-Max normalization for CO2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Inverted CO2 since lower emission is desirable</a:t>
            </a:r>
          </a:p>
          <a:p>
            <a:r>
              <a:rPr lang="en-US" sz="2000" b="1" dirty="0">
                <a:latin typeface="Trebuchet MS" panose="020B0603020202020204" pitchFamily="34" charset="0"/>
              </a:rPr>
              <a:t>Formula Used: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CO2_Impact_Index =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0.7 × (1 - normalized_CO2) +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0.3 × (Recyclability Score)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Higher value → More sustainable material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000" b="1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0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Cost Efficiency Index:</a:t>
            </a:r>
          </a:p>
          <a:p>
            <a:r>
              <a:rPr lang="en-US" sz="2000" b="1" dirty="0">
                <a:latin typeface="Trebuchet MS" panose="020B0603020202020204" pitchFamily="34" charset="0"/>
              </a:rPr>
              <a:t>Factors Considered: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Weight Capacity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Strength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Low CO2 Emission</a:t>
            </a:r>
          </a:p>
          <a:p>
            <a:r>
              <a:rPr lang="en-US" sz="2000" b="1" dirty="0">
                <a:latin typeface="Trebuchet MS" panose="020B0603020202020204" pitchFamily="34" charset="0"/>
              </a:rPr>
              <a:t>Formula Used:</a:t>
            </a:r>
          </a:p>
          <a:p>
            <a:r>
              <a:rPr lang="en-US" sz="2000" dirty="0" err="1"/>
              <a:t>Cost_Efficiency_Index</a:t>
            </a:r>
            <a:r>
              <a:rPr lang="en-US" sz="2000" dirty="0"/>
              <a:t> =</a:t>
            </a:r>
            <a:br>
              <a:rPr lang="en-US" sz="2000" dirty="0"/>
            </a:br>
            <a:r>
              <a:rPr lang="en-US" sz="2000" dirty="0"/>
              <a:t>0.4 × Weight Capacity (normalized) +</a:t>
            </a:r>
            <a:br>
              <a:rPr lang="en-US" sz="2000" dirty="0"/>
            </a:br>
            <a:r>
              <a:rPr lang="en-US" sz="2000" dirty="0"/>
              <a:t>0.4 × Strength (normalized) +</a:t>
            </a:r>
            <a:br>
              <a:rPr lang="en-US" sz="2000" dirty="0"/>
            </a:br>
            <a:r>
              <a:rPr lang="en-US" sz="2000" dirty="0"/>
              <a:t>0.2 × Low CO2 Score</a:t>
            </a:r>
          </a:p>
          <a:p>
            <a:r>
              <a:rPr lang="en-US" sz="2000" dirty="0"/>
              <a:t>Higher value → Better performance-cost balance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000" b="1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1FFA483-4C8B-577C-998B-A66F2CC2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83E789EE-47AD-474B-D92C-45D58F88C52C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63ABBFBF-3A7D-97EE-44EF-090E675481B9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4ECFCB8F-EF77-C259-D793-FAEE6735416C}"/>
              </a:ext>
            </a:extLst>
          </p:cNvPr>
          <p:cNvSpPr txBox="1"/>
          <p:nvPr/>
        </p:nvSpPr>
        <p:spPr>
          <a:xfrm>
            <a:off x="1403759" y="1829971"/>
            <a:ext cx="77724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0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Material Suitability Score: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Factors Included: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Strength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Biodegradability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Recyclability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Low CO2 Emission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000" b="1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r>
              <a:rPr lang="en-US" sz="2000" b="1" dirty="0"/>
              <a:t>Formula Used:</a:t>
            </a:r>
          </a:p>
          <a:p>
            <a:r>
              <a:rPr lang="en-US" sz="2000" dirty="0" err="1">
                <a:latin typeface="Trebuchet MS" panose="020B0603020202020204" pitchFamily="34" charset="0"/>
              </a:rPr>
              <a:t>Material_Suitability_Score</a:t>
            </a:r>
            <a:r>
              <a:rPr lang="en-US" sz="2000" dirty="0">
                <a:latin typeface="Trebuchet MS" panose="020B0603020202020204" pitchFamily="34" charset="0"/>
              </a:rPr>
              <a:t> =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0.3 × Strength +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0.2 × Biodegradability +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0.2 × Recyclability +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0.3 × (1-CO2 Score)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Higher value → More suitable for sustainable packaging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000" b="1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3006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307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AJAY SAWALE</cp:lastModifiedBy>
  <cp:revision>5</cp:revision>
  <dcterms:created xsi:type="dcterms:W3CDTF">2023-02-02T07:40:50Z</dcterms:created>
  <dcterms:modified xsi:type="dcterms:W3CDTF">2026-02-13T12:33:01Z</dcterms:modified>
</cp:coreProperties>
</file>