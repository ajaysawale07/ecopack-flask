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68" r:id="rId3"/>
    <p:sldId id="269" r:id="rId4"/>
    <p:sldId id="280" r:id="rId5"/>
    <p:sldId id="270" r:id="rId6"/>
    <p:sldId id="284" r:id="rId7"/>
    <p:sldId id="283" r:id="rId8"/>
    <p:sldId id="281" r:id="rId9"/>
    <p:sldId id="282" r:id="rId10"/>
    <p:sldId id="28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jI5GDjOA4s8nAsp0W8MAdIDlup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F8FA474-12F4-1C96-64BD-E7D928386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B0E0EA14-E08C-B2C6-30BC-AB911ED151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3CA4DC75-B69F-EFCC-184B-C682FADDA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3:notes">
            <a:extLst>
              <a:ext uri="{FF2B5EF4-FFF2-40B4-BE49-F238E27FC236}">
                <a16:creationId xmlns:a16="http://schemas.microsoft.com/office/drawing/2014/main" id="{C3E8E4BE-3A2E-14E1-47EF-28FE1F61FD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2488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B336F84B-27D0-0992-6D25-D7BAE703A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91CC2DCC-3465-7B91-E0F5-6B1F4F89A9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9512F1D5-D587-6B32-2826-4E6DAB71D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4:notes">
            <a:extLst>
              <a:ext uri="{FF2B5EF4-FFF2-40B4-BE49-F238E27FC236}">
                <a16:creationId xmlns:a16="http://schemas.microsoft.com/office/drawing/2014/main" id="{ECBA8BBB-8348-B16C-0E03-9A875D82FA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0410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AD5F6ED2-9941-31F5-DA2F-CA328AABC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>
            <a:extLst>
              <a:ext uri="{FF2B5EF4-FFF2-40B4-BE49-F238E27FC236}">
                <a16:creationId xmlns:a16="http://schemas.microsoft.com/office/drawing/2014/main" id="{3747509F-C159-75A6-D4C5-522056D00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6:notes">
            <a:extLst>
              <a:ext uri="{FF2B5EF4-FFF2-40B4-BE49-F238E27FC236}">
                <a16:creationId xmlns:a16="http://schemas.microsoft.com/office/drawing/2014/main" id="{EF285EEC-4929-DE1B-D053-3364423080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7495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FA65C849-1D04-98D3-CD24-061B5729D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>
            <a:extLst>
              <a:ext uri="{FF2B5EF4-FFF2-40B4-BE49-F238E27FC236}">
                <a16:creationId xmlns:a16="http://schemas.microsoft.com/office/drawing/2014/main" id="{8EF763EE-38C7-9D78-8ED5-F4433DD809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6:notes">
            <a:extLst>
              <a:ext uri="{FF2B5EF4-FFF2-40B4-BE49-F238E27FC236}">
                <a16:creationId xmlns:a16="http://schemas.microsoft.com/office/drawing/2014/main" id="{E3DB6AB5-B698-7AE4-A47B-3A8A2CEDE3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2863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7AF2ADF2-533E-EF78-A448-28A703860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>
            <a:extLst>
              <a:ext uri="{FF2B5EF4-FFF2-40B4-BE49-F238E27FC236}">
                <a16:creationId xmlns:a16="http://schemas.microsoft.com/office/drawing/2014/main" id="{9B45EBCC-BAB7-894A-58CF-83A9FD6FC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6:notes">
            <a:extLst>
              <a:ext uri="{FF2B5EF4-FFF2-40B4-BE49-F238E27FC236}">
                <a16:creationId xmlns:a16="http://schemas.microsoft.com/office/drawing/2014/main" id="{50C76299-8EE5-BB09-FF54-E53FF531E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3763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43D61B79-3739-43A9-6CF7-DDE43FDC7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>
            <a:extLst>
              <a:ext uri="{FF2B5EF4-FFF2-40B4-BE49-F238E27FC236}">
                <a16:creationId xmlns:a16="http://schemas.microsoft.com/office/drawing/2014/main" id="{34DF3CF0-67CC-20D8-4B62-C4EB702FA7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6:notes">
            <a:extLst>
              <a:ext uri="{FF2B5EF4-FFF2-40B4-BE49-F238E27FC236}">
                <a16:creationId xmlns:a16="http://schemas.microsoft.com/office/drawing/2014/main" id="{0A8FC101-CFCA-AF14-3B8C-E9F7BD570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5377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85cdd0013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g3785cdd001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1725262" y="2724324"/>
            <a:ext cx="79248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0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Milstone</a:t>
            </a:r>
            <a:r>
              <a:rPr lang="en-US" sz="30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-3</a:t>
            </a:r>
          </a:p>
        </p:txBody>
      </p:sp>
      <p:sp>
        <p:nvSpPr>
          <p:cNvPr id="91" name="Google Shape;91;p1"/>
          <p:cNvSpPr txBox="1"/>
          <p:nvPr/>
        </p:nvSpPr>
        <p:spPr>
          <a:xfrm>
            <a:off x="1577130" y="4133676"/>
            <a:ext cx="9848675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 </a:t>
            </a:r>
            <a:r>
              <a:rPr lang="en-US" sz="2400" b="0" i="0" u="none" strike="noStrike" cap="none" dirty="0" err="1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EcoPackAI</a:t>
            </a:r>
            <a:r>
              <a:rPr lang="en-US" sz="2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 – AI-Powered Sustainable Packaging 		</a:t>
            </a:r>
            <a:r>
              <a:rPr lang="en-US" sz="2400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	      </a:t>
            </a:r>
            <a:r>
              <a:rPr lang="en-US" sz="2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Recommendation System</a:t>
            </a:r>
            <a:endParaRPr sz="2400" b="0" i="0" u="none" strike="noStrike" cap="none" dirty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0A9F4E-0688-4A14-1047-66DFD9092FDD}"/>
              </a:ext>
            </a:extLst>
          </p:cNvPr>
          <p:cNvSpPr txBox="1"/>
          <p:nvPr/>
        </p:nvSpPr>
        <p:spPr>
          <a:xfrm>
            <a:off x="1992311" y="1511797"/>
            <a:ext cx="73907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rebuchet MS" panose="020B0603020202020204" pitchFamily="34" charset="0"/>
              </a:rPr>
              <a:t>INFOSYS SPRINGBOARD INTERNSHIP</a:t>
            </a:r>
            <a:endParaRPr lang="en-IN" sz="28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accent1"/>
              </a:solidFill>
              <a:highlight>
                <a:srgbClr val="FF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600200" y="1769378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215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IN" sz="2000" b="0" i="0" u="none" strike="noStrike" cap="none" dirty="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</a:t>
            </a:r>
            <a:endParaRPr lang="en-US" dirty="0"/>
          </a:p>
          <a:p>
            <a:pPr marL="685791" indent="-342900" algn="just"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Backend Architecture</a:t>
            </a:r>
            <a:endParaRPr lang="en-US" dirty="0"/>
          </a:p>
          <a:p>
            <a:pPr marL="685791" indent="-342900" algn="just"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Flask REST API Endpoints</a:t>
            </a:r>
          </a:p>
          <a:p>
            <a:pPr marL="685791" indent="-342900" algn="just"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Environmental Score Computation</a:t>
            </a:r>
          </a:p>
          <a:p>
            <a:pPr marL="685791" indent="-342900" algn="just"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AI Material Recommendation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UI</a:t>
            </a:r>
          </a:p>
          <a:p>
            <a:pPr marL="685791" indent="-342900" algn="just">
              <a:buClr>
                <a:srgbClr val="0033CC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Recommendation Output UI</a:t>
            </a:r>
          </a:p>
          <a:p>
            <a:pPr marL="342891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</a:pPr>
            <a:endParaRPr lang="en-US" sz="2400" b="0" i="0" u="none" strike="noStrike" cap="none" dirty="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IN" sz="2400" b="0" i="0" u="none" strike="noStrike" cap="none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109720" y="957561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sz="2400" b="0" i="0" u="none" strike="noStrike" cap="non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788565" y="1679852"/>
            <a:ext cx="11115413" cy="4097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r>
              <a:rPr lang="en-IN" sz="2400" b="1" dirty="0">
                <a:latin typeface="Trebuchet MS" panose="020B0603020202020204" pitchFamily="34" charset="0"/>
              </a:rPr>
              <a:t>Diagram</a:t>
            </a:r>
            <a:endParaRPr lang="en-IN" sz="2400" dirty="0">
              <a:latin typeface="Trebuchet MS" panose="020B0603020202020204" pitchFamily="34" charset="0"/>
            </a:endParaRPr>
          </a:p>
          <a:p>
            <a:r>
              <a:rPr lang="en-IN" sz="2400" dirty="0">
                <a:latin typeface="Trebuchet MS" panose="020B0603020202020204" pitchFamily="34" charset="0"/>
              </a:rPr>
              <a:t>User</a:t>
            </a:r>
            <a:br>
              <a:rPr lang="en-IN" sz="2400" dirty="0">
                <a:latin typeface="Trebuchet MS" panose="020B0603020202020204" pitchFamily="34" charset="0"/>
              </a:rPr>
            </a:br>
            <a:r>
              <a:rPr lang="en-IN" sz="2400" dirty="0">
                <a:latin typeface="Trebuchet MS" panose="020B0603020202020204" pitchFamily="34" charset="0"/>
              </a:rPr>
              <a:t>    ↓</a:t>
            </a:r>
            <a:br>
              <a:rPr lang="en-IN" sz="2400" dirty="0">
                <a:latin typeface="Trebuchet MS" panose="020B0603020202020204" pitchFamily="34" charset="0"/>
              </a:rPr>
            </a:br>
            <a:r>
              <a:rPr lang="en-IN" sz="2400" dirty="0">
                <a:latin typeface="Trebuchet MS" panose="020B0603020202020204" pitchFamily="34" charset="0"/>
              </a:rPr>
              <a:t>Frontend UI (HTML + Bootstrap)</a:t>
            </a:r>
            <a:br>
              <a:rPr lang="en-IN" sz="2400" dirty="0">
                <a:latin typeface="Trebuchet MS" panose="020B0603020202020204" pitchFamily="34" charset="0"/>
              </a:rPr>
            </a:br>
            <a:r>
              <a:rPr lang="en-IN" sz="2400" dirty="0">
                <a:latin typeface="Trebuchet MS" panose="020B0603020202020204" pitchFamily="34" charset="0"/>
              </a:rPr>
              <a:t>    ↓</a:t>
            </a:r>
            <a:br>
              <a:rPr lang="en-IN" sz="2400" dirty="0">
                <a:latin typeface="Trebuchet MS" panose="020B0603020202020204" pitchFamily="34" charset="0"/>
              </a:rPr>
            </a:br>
            <a:r>
              <a:rPr lang="en-IN" sz="2400" dirty="0">
                <a:latin typeface="Trebuchet MS" panose="020B0603020202020204" pitchFamily="34" charset="0"/>
              </a:rPr>
              <a:t>Flask Backend API</a:t>
            </a:r>
            <a:br>
              <a:rPr lang="en-IN" sz="2400" dirty="0">
                <a:latin typeface="Trebuchet MS" panose="020B0603020202020204" pitchFamily="34" charset="0"/>
              </a:rPr>
            </a:br>
            <a:r>
              <a:rPr lang="en-IN" sz="2400" dirty="0">
                <a:latin typeface="Trebuchet MS" panose="020B0603020202020204" pitchFamily="34" charset="0"/>
              </a:rPr>
              <a:t>    ↓</a:t>
            </a:r>
            <a:br>
              <a:rPr lang="en-IN" sz="2400" dirty="0">
                <a:latin typeface="Trebuchet MS" panose="020B0603020202020204" pitchFamily="34" charset="0"/>
              </a:rPr>
            </a:br>
            <a:r>
              <a:rPr lang="en-IN" sz="2400" dirty="0">
                <a:latin typeface="Trebuchet MS" panose="020B0603020202020204" pitchFamily="34" charset="0"/>
              </a:rPr>
              <a:t>Machine Learning Models</a:t>
            </a:r>
            <a:br>
              <a:rPr lang="en-IN" sz="2400" dirty="0">
                <a:latin typeface="Trebuchet MS" panose="020B0603020202020204" pitchFamily="34" charset="0"/>
              </a:rPr>
            </a:br>
            <a:r>
              <a:rPr lang="en-IN" sz="2400" dirty="0">
                <a:latin typeface="Trebuchet MS" panose="020B0603020202020204" pitchFamily="34" charset="0"/>
              </a:rPr>
              <a:t>    ↓</a:t>
            </a:r>
            <a:br>
              <a:rPr lang="en-IN" sz="2400" dirty="0">
                <a:latin typeface="Trebuchet MS" panose="020B0603020202020204" pitchFamily="34" charset="0"/>
              </a:rPr>
            </a:br>
            <a:r>
              <a:rPr lang="en-IN" sz="2400" dirty="0">
                <a:latin typeface="Trebuchet MS" panose="020B0603020202020204" pitchFamily="34" charset="0"/>
              </a:rPr>
              <a:t>PostgreSQL Database</a:t>
            </a:r>
          </a:p>
          <a:p>
            <a:endParaRPr lang="en-IN" sz="2400" dirty="0">
              <a:latin typeface="Trebuchet MS" panose="020B0603020202020204" pitchFamily="34" charset="0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3120705" y="1143002"/>
            <a:ext cx="754729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7A11F310-4965-BDF5-BE31-B0D53E9A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58AE2B63-196E-12A8-B8CE-181E45DFB587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837F0F4C-E9A3-FDF0-FFC4-41CD5FB54224}"/>
              </a:ext>
            </a:extLst>
          </p:cNvPr>
          <p:cNvSpPr txBox="1"/>
          <p:nvPr/>
        </p:nvSpPr>
        <p:spPr>
          <a:xfrm>
            <a:off x="1057013" y="1772130"/>
            <a:ext cx="10838576" cy="4223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Flask application provides REST APIs for: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rebuchet MS" panose="020B0603020202020204" pitchFamily="34" charset="0"/>
              </a:rPr>
              <a:t>Product Input Handling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rebuchet MS" panose="020B0603020202020204" pitchFamily="34" charset="0"/>
              </a:rPr>
              <a:t>Environmental Score Calculation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rebuchet MS" panose="020B0603020202020204" pitchFamily="34" charset="0"/>
              </a:rPr>
              <a:t>AI Material Recommendation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Backend responsibilities: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rebuchet MS" panose="020B0603020202020204" pitchFamily="34" charset="0"/>
              </a:rPr>
              <a:t>Process user inputs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rebuchet MS" panose="020B0603020202020204" pitchFamily="34" charset="0"/>
              </a:rPr>
              <a:t>Load trained ML models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rebuchet MS" panose="020B0603020202020204" pitchFamily="34" charset="0"/>
              </a:rPr>
              <a:t>Query material dataset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rebuchet MS" panose="020B0603020202020204" pitchFamily="34" charset="0"/>
              </a:rPr>
              <a:t>Rank materials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>
                <a:latin typeface="Trebuchet MS" panose="020B0603020202020204" pitchFamily="34" charset="0"/>
              </a:rPr>
              <a:t>Return JSON response</a:t>
            </a:r>
          </a:p>
        </p:txBody>
      </p:sp>
      <p:sp>
        <p:nvSpPr>
          <p:cNvPr id="113" name="Google Shape;113;p3">
            <a:extLst>
              <a:ext uri="{FF2B5EF4-FFF2-40B4-BE49-F238E27FC236}">
                <a16:creationId xmlns:a16="http://schemas.microsoft.com/office/drawing/2014/main" id="{8CEE9A8D-8365-701D-D10F-EF6FD6729D1C}"/>
              </a:ext>
            </a:extLst>
          </p:cNvPr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Backend Architecture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>
            <a:extLst>
              <a:ext uri="{FF2B5EF4-FFF2-40B4-BE49-F238E27FC236}">
                <a16:creationId xmlns:a16="http://schemas.microsoft.com/office/drawing/2014/main" id="{FE596773-2FBD-5B42-2543-DE79EDA647A7}"/>
              </a:ext>
            </a:extLst>
          </p:cNvPr>
          <p:cNvSpPr txBox="1"/>
          <p:nvPr/>
        </p:nvSpPr>
        <p:spPr>
          <a:xfrm>
            <a:off x="76201" y="631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5263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518718" y="1754946"/>
            <a:ext cx="11410427" cy="4433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Health Check: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	GET /</a:t>
            </a:r>
            <a:r>
              <a:rPr lang="en-US" sz="2200" dirty="0" err="1">
                <a:latin typeface="Trebuchet MS" panose="020B0603020202020204" pitchFamily="34" charset="0"/>
              </a:rPr>
              <a:t>api</a:t>
            </a:r>
            <a:r>
              <a:rPr lang="en-US" sz="2200" dirty="0">
                <a:latin typeface="Trebuchet MS" panose="020B0603020202020204" pitchFamily="34" charset="0"/>
              </a:rPr>
              <a:t>/health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	Checks: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	database connection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	models loaded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	dataset availability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Product Input API: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	Stores product data in database.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	Example JSON: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 "</a:t>
            </a:r>
            <a:r>
              <a:rPr lang="en-US" sz="2200" dirty="0" err="1">
                <a:latin typeface="Trebuchet MS" panose="020B0603020202020204" pitchFamily="34" charset="0"/>
              </a:rPr>
              <a:t>product_name":"Glass</a:t>
            </a:r>
            <a:r>
              <a:rPr lang="en-US" sz="2200" dirty="0">
                <a:latin typeface="Trebuchet MS" panose="020B0603020202020204" pitchFamily="34" charset="0"/>
              </a:rPr>
              <a:t> Bottle",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 "</a:t>
            </a:r>
            <a:r>
              <a:rPr lang="en-US" sz="2200" dirty="0" err="1">
                <a:latin typeface="Trebuchet MS" panose="020B0603020202020204" pitchFamily="34" charset="0"/>
              </a:rPr>
              <a:t>category":"food</a:t>
            </a:r>
            <a:r>
              <a:rPr lang="en-US" sz="2200" dirty="0">
                <a:latin typeface="Trebuchet MS" panose="020B0603020202020204" pitchFamily="34" charset="0"/>
              </a:rPr>
              <a:t>",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 "product_weight_kg":1.5,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 "</a:t>
            </a:r>
            <a:r>
              <a:rPr lang="en-US" sz="2200" dirty="0" err="1">
                <a:latin typeface="Trebuchet MS" panose="020B0603020202020204" pitchFamily="34" charset="0"/>
              </a:rPr>
              <a:t>fragility_level":"High</a:t>
            </a:r>
            <a:r>
              <a:rPr lang="en-US" sz="2200" dirty="0">
                <a:latin typeface="Trebuchet MS" panose="020B0603020202020204" pitchFamily="34" charset="0"/>
              </a:rPr>
              <a:t>"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Trebuchet MS" panose="020B0603020202020204" pitchFamily="34" charset="0"/>
            </a:endParaRPr>
          </a:p>
          <a:p>
            <a:endParaRPr lang="en-US" sz="2200" dirty="0">
              <a:latin typeface="Trebuchet MS" panose="020B0603020202020204" pitchFamily="34" charset="0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2895600" y="982211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Flask REST API Endpoints</a:t>
            </a:r>
            <a:endParaRPr sz="2400" b="0" i="0" u="none" strike="noStrike" cap="none" dirty="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C7F188AF-9039-2873-02F1-7CF65C7B4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242D5CA7-9226-B074-A28B-B49A4C76A6FB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C5D2AE8C-85A5-763E-89E4-69330597E9BF}"/>
              </a:ext>
            </a:extLst>
          </p:cNvPr>
          <p:cNvSpPr txBox="1"/>
          <p:nvPr/>
        </p:nvSpPr>
        <p:spPr>
          <a:xfrm>
            <a:off x="518718" y="1754946"/>
            <a:ext cx="11410427" cy="4433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POST /</a:t>
            </a:r>
            <a:r>
              <a:rPr lang="en-IN" sz="2200" dirty="0" err="1">
                <a:latin typeface="Trebuchet MS" panose="020B0603020202020204" pitchFamily="34" charset="0"/>
              </a:rPr>
              <a:t>api</a:t>
            </a:r>
            <a:r>
              <a:rPr lang="en-IN" sz="2200" dirty="0">
                <a:latin typeface="Trebuchet MS" panose="020B0603020202020204" pitchFamily="34" charset="0"/>
              </a:rPr>
              <a:t>/environment-score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Input</a:t>
            </a:r>
            <a:br>
              <a:rPr lang="en-IN" sz="2200" dirty="0">
                <a:latin typeface="Trebuchet MS" panose="020B0603020202020204" pitchFamily="34" charset="0"/>
              </a:rPr>
            </a:br>
            <a:r>
              <a:rPr lang="en-IN" sz="2200" dirty="0" err="1">
                <a:latin typeface="Trebuchet MS" panose="020B0603020202020204" pitchFamily="34" charset="0"/>
              </a:rPr>
              <a:t>cost_values</a:t>
            </a:r>
            <a:endParaRPr lang="en-IN" sz="2200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co2_values</a:t>
            </a:r>
            <a:br>
              <a:rPr lang="en-IN" sz="2200" dirty="0">
                <a:latin typeface="Trebuchet MS" panose="020B0603020202020204" pitchFamily="34" charset="0"/>
              </a:rPr>
            </a:br>
            <a:r>
              <a:rPr lang="en-US" sz="2200" b="1" dirty="0">
                <a:latin typeface="Trebuchet MS" panose="020B0603020202020204" pitchFamily="34" charset="0"/>
              </a:rPr>
              <a:t>Formula: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Cost Score = normalized(cost)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CO₂ Score = normalized(co2)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rebuchet MS" panose="020B0603020202020204" pitchFamily="34" charset="0"/>
              </a:rPr>
              <a:t>Final AI Score:</a:t>
            </a:r>
          </a:p>
          <a:p>
            <a:pPr>
              <a:lnSpc>
                <a:spcPct val="150000"/>
              </a:lnSpc>
            </a:pPr>
            <a:r>
              <a:rPr lang="it-IT" sz="2200" dirty="0">
                <a:latin typeface="Trebuchet MS" panose="020B0603020202020204" pitchFamily="34" charset="0"/>
              </a:rPr>
              <a:t>AI Score =</a:t>
            </a:r>
          </a:p>
          <a:p>
            <a:pPr>
              <a:lnSpc>
                <a:spcPct val="150000"/>
              </a:lnSpc>
            </a:pPr>
            <a:r>
              <a:rPr lang="it-IT" sz="2200" dirty="0">
                <a:latin typeface="Trebuchet MS" panose="020B0603020202020204" pitchFamily="34" charset="0"/>
              </a:rPr>
              <a:t>0.5 * Cost Score +</a:t>
            </a:r>
          </a:p>
          <a:p>
            <a:pPr>
              <a:lnSpc>
                <a:spcPct val="150000"/>
              </a:lnSpc>
            </a:pPr>
            <a:r>
              <a:rPr lang="it-IT" sz="2200" dirty="0">
                <a:latin typeface="Trebuchet MS" panose="020B0603020202020204" pitchFamily="34" charset="0"/>
              </a:rPr>
              <a:t>0.5 * CO2 Score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Purpose:</a:t>
            </a:r>
            <a:br>
              <a:rPr lang="en-US" sz="2200" dirty="0">
                <a:latin typeface="Trebuchet MS" panose="020B0603020202020204" pitchFamily="34" charset="0"/>
              </a:rPr>
            </a:br>
            <a:r>
              <a:rPr lang="en-US" sz="2200" dirty="0">
                <a:latin typeface="Trebuchet MS" panose="020B0603020202020204" pitchFamily="34" charset="0"/>
              </a:rPr>
              <a:t>Evaluate environmental sustainability of materials</a:t>
            </a:r>
          </a:p>
        </p:txBody>
      </p:sp>
      <p:sp>
        <p:nvSpPr>
          <p:cNvPr id="124" name="Google Shape;124;p4">
            <a:extLst>
              <a:ext uri="{FF2B5EF4-FFF2-40B4-BE49-F238E27FC236}">
                <a16:creationId xmlns:a16="http://schemas.microsoft.com/office/drawing/2014/main" id="{7CA67532-2F98-52D6-12FD-DE7154A88FE5}"/>
              </a:ext>
            </a:extLst>
          </p:cNvPr>
          <p:cNvSpPr txBox="1"/>
          <p:nvPr/>
        </p:nvSpPr>
        <p:spPr>
          <a:xfrm>
            <a:off x="2895600" y="982211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Environmental Score Computation</a:t>
            </a:r>
            <a:endParaRPr sz="2400" b="0" i="0" u="none" strike="noStrike" cap="none" dirty="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08322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9BF815E5-D71F-AFC0-32CE-C627E0EB2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7671CCB3-936E-6DF2-6D4E-FF72937977C8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>
            <a:extLst>
              <a:ext uri="{FF2B5EF4-FFF2-40B4-BE49-F238E27FC236}">
                <a16:creationId xmlns:a16="http://schemas.microsoft.com/office/drawing/2014/main" id="{CFC6A653-BDD2-F7B4-98AF-9C125335D5B0}"/>
              </a:ext>
            </a:extLst>
          </p:cNvPr>
          <p:cNvSpPr txBox="1"/>
          <p:nvPr/>
        </p:nvSpPr>
        <p:spPr>
          <a:xfrm>
            <a:off x="2895600" y="1053957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AI Material Recommendation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D0B30E-B180-BC44-0687-E40EE9F95D8A}"/>
              </a:ext>
            </a:extLst>
          </p:cNvPr>
          <p:cNvSpPr txBox="1"/>
          <p:nvPr/>
        </p:nvSpPr>
        <p:spPr>
          <a:xfrm>
            <a:off x="563461" y="1683201"/>
            <a:ext cx="11315350" cy="4608542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200" dirty="0">
                <a:latin typeface="Trebuchet MS" panose="020B0603020202020204" pitchFamily="34" charset="0"/>
              </a:rPr>
              <a:t>POST /</a:t>
            </a:r>
            <a:r>
              <a:rPr lang="en-IN" sz="2200" dirty="0" err="1">
                <a:latin typeface="Trebuchet MS" panose="020B0603020202020204" pitchFamily="34" charset="0"/>
              </a:rPr>
              <a:t>api</a:t>
            </a:r>
            <a:r>
              <a:rPr lang="en-IN" sz="2200" dirty="0">
                <a:latin typeface="Trebuchet MS" panose="020B0603020202020204" pitchFamily="34" charset="0"/>
              </a:rPr>
              <a:t>/recommend-materials</a:t>
            </a:r>
          </a:p>
          <a:p>
            <a:pPr>
              <a:lnSpc>
                <a:spcPct val="150000"/>
              </a:lnSpc>
              <a:buNone/>
            </a:pPr>
            <a:r>
              <a:rPr lang="en-IN" sz="2200" dirty="0">
                <a:latin typeface="Trebuchet MS" panose="020B0603020202020204" pitchFamily="34" charset="0"/>
              </a:rPr>
              <a:t>Input: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rebuchet MS" panose="020B0603020202020204" pitchFamily="34" charset="0"/>
              </a:rPr>
              <a:t>{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rebuchet MS" panose="020B0603020202020204" pitchFamily="34" charset="0"/>
              </a:rPr>
              <a:t> "product_weight_kg":5,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rebuchet MS" panose="020B0603020202020204" pitchFamily="34" charset="0"/>
              </a:rPr>
              <a:t> "</a:t>
            </a:r>
            <a:r>
              <a:rPr lang="en-US" sz="2200" dirty="0" err="1">
                <a:latin typeface="Trebuchet MS" panose="020B0603020202020204" pitchFamily="34" charset="0"/>
              </a:rPr>
              <a:t>fragility_level":"Medium</a:t>
            </a:r>
            <a:r>
              <a:rPr lang="en-US" sz="2200" dirty="0">
                <a:latin typeface="Trebuchet MS" panose="020B0603020202020204" pitchFamily="34" charset="0"/>
              </a:rPr>
              <a:t>",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rebuchet MS" panose="020B0603020202020204" pitchFamily="34" charset="0"/>
              </a:rPr>
              <a:t> "top_n":5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rebuchet MS" panose="020B0603020202020204" pitchFamily="34" charset="0"/>
              </a:rPr>
              <a:t>}</a:t>
            </a:r>
            <a:endParaRPr lang="en-IN" sz="2200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rebuchet MS" panose="020B0603020202020204" pitchFamily="34" charset="0"/>
              </a:rPr>
              <a:t>Steps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 Filter materials based on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	weight capacity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	strength requirement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 Predict values using ML models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	Cost prediction → Random Forest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rebuchet MS" panose="020B0603020202020204" pitchFamily="34" charset="0"/>
              </a:rPr>
              <a:t>	CO₂ prediction → </a:t>
            </a:r>
            <a:r>
              <a:rPr lang="en-IN" sz="2200" dirty="0" err="1">
                <a:latin typeface="Trebuchet MS" panose="020B0603020202020204" pitchFamily="34" charset="0"/>
              </a:rPr>
              <a:t>XGBoost</a:t>
            </a:r>
            <a:endParaRPr lang="en-IN" sz="2200" dirty="0">
              <a:latin typeface="Trebuchet MS" panose="020B0603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 Calculate environmental scores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 Rank materials by AI score</a:t>
            </a:r>
          </a:p>
          <a:p>
            <a:pPr>
              <a:lnSpc>
                <a:spcPct val="150000"/>
              </a:lnSpc>
              <a:buNone/>
            </a:pPr>
            <a:endParaRPr lang="en-IN" sz="2200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IN" sz="22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243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E1FFA483-4C8B-577C-998B-A66F2CC20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83E789EE-47AD-474B-D92C-45D58F88C52C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>
            <a:extLst>
              <a:ext uri="{FF2B5EF4-FFF2-40B4-BE49-F238E27FC236}">
                <a16:creationId xmlns:a16="http://schemas.microsoft.com/office/drawing/2014/main" id="{63ABBFBF-3A7D-97EE-44EF-090E675481B9}"/>
              </a:ext>
            </a:extLst>
          </p:cNvPr>
          <p:cNvSpPr txBox="1"/>
          <p:nvPr/>
        </p:nvSpPr>
        <p:spPr>
          <a:xfrm>
            <a:off x="2895600" y="1053957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Frontend UI Development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>
            <a:extLst>
              <a:ext uri="{FF2B5EF4-FFF2-40B4-BE49-F238E27FC236}">
                <a16:creationId xmlns:a16="http://schemas.microsoft.com/office/drawing/2014/main" id="{4ECFCB8F-EF77-C259-D793-FAEE6735416C}"/>
              </a:ext>
            </a:extLst>
          </p:cNvPr>
          <p:cNvSpPr txBox="1"/>
          <p:nvPr/>
        </p:nvSpPr>
        <p:spPr>
          <a:xfrm>
            <a:off x="763398" y="1646687"/>
            <a:ext cx="10729520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2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Trebuchet MS" panose="020B0603020202020204" pitchFamily="34" charset="0"/>
                <a:cs typeface="Arial" panose="020B0604020202020204" pitchFamily="34" charset="0"/>
              </a:rPr>
              <a:t>Technologies</a:t>
            </a:r>
            <a:endParaRPr lang="en-US" sz="2200" dirty="0">
              <a:latin typeface="Trebuchet MS" panose="020B0603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  <a:cs typeface="Arial" panose="020B0604020202020204" pitchFamily="34" charset="0"/>
              </a:rPr>
              <a:t>HTML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  <a:cs typeface="Arial" panose="020B0604020202020204" pitchFamily="34" charset="0"/>
              </a:rPr>
              <a:t>CSS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  <a:cs typeface="Arial" panose="020B0604020202020204" pitchFamily="34" charset="0"/>
              </a:rPr>
              <a:t>Bootstrap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  <a:cs typeface="Arial" panose="020B0604020202020204" pitchFamily="34" charset="0"/>
              </a:rPr>
              <a:t>Flask Templates</a:t>
            </a:r>
          </a:p>
          <a:p>
            <a:pPr>
              <a:lnSpc>
                <a:spcPct val="150000"/>
              </a:lnSpc>
            </a:pPr>
            <a:endParaRPr lang="en-US" sz="2200" b="1" dirty="0">
              <a:latin typeface="Trebuchet MS" panose="020B0603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rebuchet MS" panose="020B0603020202020204" pitchFamily="34" charset="0"/>
                <a:cs typeface="Arial" panose="020B0604020202020204" pitchFamily="34" charset="0"/>
              </a:rPr>
              <a:t>Features</a:t>
            </a:r>
            <a:endParaRPr lang="en-US" sz="2200" dirty="0">
              <a:latin typeface="Trebuchet MS" panose="020B0603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  <a:cs typeface="Arial" panose="020B0604020202020204" pitchFamily="34" charset="0"/>
              </a:rPr>
              <a:t>Product input form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  <a:cs typeface="Arial" panose="020B0604020202020204" pitchFamily="34" charset="0"/>
              </a:rPr>
              <a:t>Fragility selection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  <a:cs typeface="Arial" panose="020B0604020202020204" pitchFamily="34" charset="0"/>
              </a:rPr>
              <a:t>Display recommendation result</a:t>
            </a:r>
          </a:p>
        </p:txBody>
      </p:sp>
    </p:spTree>
    <p:extLst>
      <p:ext uri="{BB962C8B-B14F-4D97-AF65-F5344CB8AC3E}">
        <p14:creationId xmlns:p14="http://schemas.microsoft.com/office/powerpoint/2010/main" val="430063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6027F8E4-4C21-2686-CC8B-7C1C077EC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BE580AA4-9B73-79CE-3CFE-89C69E38EAAE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>
            <a:extLst>
              <a:ext uri="{FF2B5EF4-FFF2-40B4-BE49-F238E27FC236}">
                <a16:creationId xmlns:a16="http://schemas.microsoft.com/office/drawing/2014/main" id="{A471035F-3712-22F3-FABF-12B7A953FAEE}"/>
              </a:ext>
            </a:extLst>
          </p:cNvPr>
          <p:cNvSpPr txBox="1"/>
          <p:nvPr/>
        </p:nvSpPr>
        <p:spPr>
          <a:xfrm>
            <a:off x="2895600" y="1053957"/>
            <a:ext cx="77724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UI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4725A2-8770-06B9-B05F-999E683E3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97" y="1683242"/>
            <a:ext cx="9907398" cy="462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60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20D28278-B7F8-192A-944B-1DC11C4D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4A466461-9BA1-226F-33BB-6761E05EF72B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>
            <a:extLst>
              <a:ext uri="{FF2B5EF4-FFF2-40B4-BE49-F238E27FC236}">
                <a16:creationId xmlns:a16="http://schemas.microsoft.com/office/drawing/2014/main" id="{0C62CF9F-4452-8B41-8271-18056732AF2C}"/>
              </a:ext>
            </a:extLst>
          </p:cNvPr>
          <p:cNvSpPr txBox="1"/>
          <p:nvPr/>
        </p:nvSpPr>
        <p:spPr>
          <a:xfrm>
            <a:off x="2895600" y="1053957"/>
            <a:ext cx="77724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Recommendation Output UI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5BDE2-F4B2-66B4-5E31-589C50B44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345" y="1607489"/>
            <a:ext cx="8858774" cy="465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42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85cdd0013_0_83"/>
          <p:cNvSpPr/>
          <p:nvPr/>
        </p:nvSpPr>
        <p:spPr>
          <a:xfrm>
            <a:off x="4842760" y="2812475"/>
            <a:ext cx="2506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352</Words>
  <Application>Microsoft Office PowerPoint</Application>
  <PresentationFormat>Widescreen</PresentationFormat>
  <Paragraphs>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Noto Sans Symbols</vt:lpstr>
      <vt:lpstr>Trebuchet MS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account</dc:creator>
  <cp:lastModifiedBy>AJAY SAWALE</cp:lastModifiedBy>
  <cp:revision>15</cp:revision>
  <dcterms:created xsi:type="dcterms:W3CDTF">2023-02-02T07:40:50Z</dcterms:created>
  <dcterms:modified xsi:type="dcterms:W3CDTF">2026-03-16T12:38:14Z</dcterms:modified>
</cp:coreProperties>
</file>